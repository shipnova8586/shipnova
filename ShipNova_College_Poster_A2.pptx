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362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61" y="-59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9AAE2-613D-4FBC-9898-7041E57C9A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0B8A7-77A5-4EE8-9057-FE3D40DFF8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94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0B8A7-77A5-4EE8-9057-FE3D40DFF8E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851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4000"/>
            <a:ext cx="19463760" cy="15120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21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0000" y="360000"/>
            <a:ext cx="20664000" cy="18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0" tIns="144000" rIns="288000" bIns="144000"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Cambria"/>
              </a:rPr>
              <a:t>P P SAVANI UNIVERSITY  |  SCHOOL OF ENGINEERING  (NAAC A+ ACCREDITED)</a:t>
            </a:r>
          </a:p>
          <a:p>
            <a:pPr algn="ctr"/>
            <a:r>
              <a:rPr sz="3600" b="1">
                <a:solidFill>
                  <a:srgbClr val="1E3A8A"/>
                </a:solidFill>
                <a:latin typeface="Cambria"/>
              </a:rPr>
              <a:t>SHIPNOVA: MULTI-TENANT LOGISTICS &amp; FLEET OS</a:t>
            </a:r>
          </a:p>
          <a:p>
            <a:pPr algn="ctr"/>
            <a:r>
              <a:rPr sz="1700" b="1">
                <a:solidFill>
                  <a:srgbClr val="0284C7"/>
                </a:solidFill>
                <a:latin typeface="Cambria"/>
              </a:rPr>
              <a:t>Cloud-Native B2B Logistics Ecosystem with Real-Time Telemetry &amp; Automated Financials</a:t>
            </a:r>
          </a:p>
          <a:p>
            <a:pPr algn="ctr"/>
            <a:r>
              <a:rPr sz="1400">
                <a:solidFill>
                  <a:srgbClr val="334155"/>
                </a:solidFill>
                <a:latin typeface="Cambria"/>
              </a:rPr>
              <a:t>Student: Ved Sutariya (Enr: 23SE02IT093)  •  Branch: B.Tech Information Technology (7th Sem)  •  Mentors: Sagar Zapadiya (Origin Infotech) | Anish Kumar (PPSU)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2448000"/>
            <a:ext cx="4932000" cy="316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4595" y="2574000"/>
            <a:ext cx="4182810" cy="468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1. Introduction &amp;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" y="3060000"/>
            <a:ext cx="4644000" cy="2484000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>
                <a:solidFill>
                  <a:srgbClr val="0F172A"/>
                </a:solidFill>
              </a:rPr>
              <a:t>Traditional Fragmentation: </a:t>
            </a:r>
            <a:r>
              <a:rPr lang="en-IN" dirty="0">
                <a:solidFill>
                  <a:srgbClr val="0F172A"/>
                </a:solidFill>
              </a:rPr>
              <a:t>Logistics enterprises rely heavily on manual spreadsheets, disconnected accounting, and phone-based dispatch tracking.</a:t>
            </a:r>
          </a:p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 err="1">
                <a:solidFill>
                  <a:srgbClr val="0F172A"/>
                </a:solidFill>
              </a:rPr>
              <a:t>ShipNova</a:t>
            </a:r>
            <a:r>
              <a:rPr lang="en-IN" b="1" dirty="0">
                <a:solidFill>
                  <a:srgbClr val="0F172A"/>
                </a:solidFill>
              </a:rPr>
              <a:t> Solution: </a:t>
            </a:r>
            <a:r>
              <a:rPr lang="en-IN" dirty="0">
                <a:solidFill>
                  <a:srgbClr val="0F172A"/>
                </a:solidFill>
              </a:rPr>
              <a:t>A unified B2B SaaS platform automating fleet operations, live GPS telemetry, carrier bidding, and automated tax invoicing.</a:t>
            </a:r>
          </a:p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>
                <a:solidFill>
                  <a:srgbClr val="0F172A"/>
                </a:solidFill>
              </a:rPr>
              <a:t>Industry Domain: </a:t>
            </a:r>
            <a:r>
              <a:rPr lang="en-IN" dirty="0">
                <a:solidFill>
                  <a:srgbClr val="0F172A"/>
                </a:solidFill>
              </a:rPr>
              <a:t>Developed during 4-month internship at Origin Infotech, Surat, under academic supervision of PPSU.</a:t>
            </a:r>
            <a:endParaRPr dirty="0">
              <a:solidFill>
                <a:srgbClr val="334155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0000" y="5760001"/>
            <a:ext cx="4932000" cy="33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4596" y="5904000"/>
            <a:ext cx="4182810" cy="4320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2.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6372000"/>
            <a:ext cx="4644000" cy="2479777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>
                <a:solidFill>
                  <a:srgbClr val="0F172A"/>
                </a:solidFill>
              </a:rPr>
              <a:t>Hardware Cost Barriers: </a:t>
            </a:r>
            <a:r>
              <a:rPr lang="en-IN" dirty="0">
                <a:solidFill>
                  <a:srgbClr val="0F172A"/>
                </a:solidFill>
              </a:rPr>
              <a:t>Dedicated GPS devices cost $200–$500/vehicle, locking out small logistics operators.</a:t>
            </a:r>
          </a:p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>
                <a:solidFill>
                  <a:srgbClr val="0F172A"/>
                </a:solidFill>
              </a:rPr>
              <a:t>Cross-Tenant Data Leakage: </a:t>
            </a:r>
            <a:r>
              <a:rPr lang="en-IN" dirty="0">
                <a:solidFill>
                  <a:srgbClr val="0F172A"/>
                </a:solidFill>
              </a:rPr>
              <a:t>Shared databases risk exposing confidential freight rates and private bids to competitors.</a:t>
            </a:r>
          </a:p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>
                <a:solidFill>
                  <a:srgbClr val="0F172A"/>
                </a:solidFill>
              </a:rPr>
              <a:t>Manual Billing Overhead: </a:t>
            </a:r>
            <a:r>
              <a:rPr lang="en-IN" dirty="0">
                <a:solidFill>
                  <a:srgbClr val="0F172A"/>
                </a:solidFill>
              </a:rPr>
              <a:t>Manual tax calculation and invoicing cause 10–15 min delays per delivery.</a:t>
            </a:r>
          </a:p>
          <a:p>
            <a:pPr algn="just">
              <a:lnSpc>
                <a:spcPct val="125000"/>
              </a:lnSpc>
              <a:defRPr sz="1400">
                <a:latin typeface="Cambria"/>
              </a:defRPr>
            </a:pPr>
            <a:r>
              <a:rPr lang="en-IN" b="1" dirty="0">
                <a:solidFill>
                  <a:srgbClr val="0F172A"/>
                </a:solidFill>
              </a:rPr>
              <a:t>Unreliable Mobile Streams: </a:t>
            </a:r>
            <a:r>
              <a:rPr lang="en-IN" dirty="0">
                <a:solidFill>
                  <a:srgbClr val="0F172A"/>
                </a:solidFill>
              </a:rPr>
              <a:t>Network switching in transit (4G to Wi-Fi) causes silent WebSocket tracking drops.</a:t>
            </a:r>
            <a:endParaRPr dirty="0">
              <a:solidFill>
                <a:srgbClr val="334155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0000" y="9216000"/>
            <a:ext cx="4932000" cy="554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4597" y="9576001"/>
            <a:ext cx="4182809" cy="468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3. 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10188000"/>
            <a:ext cx="4644000" cy="4500000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Strict Multi-Tenant Isolation: </a:t>
            </a:r>
            <a:r>
              <a:rPr>
                <a:solidFill>
                  <a:srgbClr val="334155"/>
                </a:solidFill>
              </a:rPr>
              <a:t>Enforce cryptographic JWT tenant validation to guarantee 100% data privacy between enterprise companies.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Hardware-Free Telemetry: </a:t>
            </a:r>
            <a:r>
              <a:rPr>
                <a:solidFill>
                  <a:srgbClr val="334155"/>
                </a:solidFill>
              </a:rPr>
              <a:t>Stream live driver GPS coordinates via WebSockets (Socket.io) directly from standard driver smartphones.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Carrier Load Board Marketplace: </a:t>
            </a:r>
            <a:r>
              <a:rPr>
                <a:solidFill>
                  <a:srgbClr val="334155"/>
                </a:solidFill>
              </a:rPr>
              <a:t>Engineer an open marketplace where verified external carriers submit competitive bids on unassigned freight.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Automated Financial Cycle: </a:t>
            </a:r>
            <a:r>
              <a:rPr>
                <a:solidFill>
                  <a:srgbClr val="334155"/>
                </a:solidFill>
              </a:rPr>
              <a:t>Integrate Razorpay SaaS subscriptions with instant PDFKit tax invoice generation and automated email receipts.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Public Tracking Portal: </a:t>
            </a:r>
            <a:r>
              <a:rPr>
                <a:solidFill>
                  <a:srgbClr val="334155"/>
                </a:solidFill>
              </a:rPr>
              <a:t>Provide token-free live shipment tracking for end customers without requiring an account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0000" y="2448000"/>
            <a:ext cx="4932000" cy="34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5988600" y="2574000"/>
            <a:ext cx="4114800" cy="468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4. System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000" y="3060000"/>
            <a:ext cx="4644000" cy="325341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endParaRPr dirty="0">
              <a:solidFill>
                <a:srgbClr val="334155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580000" y="6048000"/>
            <a:ext cx="4932000" cy="871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88000" y="6156000"/>
            <a:ext cx="4716000" cy="4680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5. System Architecture &amp;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000" y="6660000"/>
            <a:ext cx="4644000" cy="8028000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Layer 1: Client Edge (Vercel): </a:t>
            </a:r>
            <a:r>
              <a:rPr>
                <a:solidFill>
                  <a:srgbClr val="334155"/>
                </a:solidFill>
              </a:rPr>
              <a:t>Responsive React 18 administrative portals and mobile driver web applications interacting via HTTPS and Secure WebSockets.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Layer 2: Server Layer (Render): </a:t>
            </a:r>
            <a:r>
              <a:rPr>
                <a:solidFill>
                  <a:srgbClr val="334155"/>
                </a:solidFill>
              </a:rPr>
              <a:t>Express.js REST APIs with JWT Bearer validation, custom tenant isolation middleware, and Socket.io event-driven rooms.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Layer 3: Database (MongoDB Atlas): </a:t>
            </a:r>
            <a:r>
              <a:rPr>
                <a:solidFill>
                  <a:srgbClr val="334155"/>
                </a:solidFill>
              </a:rPr>
              <a:t>Strictly partitioned collections (Companies, Shipments, Users, Drivers, Bids) indexed by companyId for sub-100ms queries.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Layer 4: External Microservices: </a:t>
            </a:r>
            <a:r>
              <a:rPr>
                <a:solidFill>
                  <a:srgbClr val="334155"/>
                </a:solidFill>
              </a:rPr>
              <a:t>Razorpay API for SaaS subscription checkouts, Clerk SSO for user authentication, and Gmail SMTP SSL for transactional receipts.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Tenant Isolation Guarantee: </a:t>
            </a:r>
            <a:r>
              <a:rPr>
                <a:solidFill>
                  <a:srgbClr val="334155"/>
                </a:solidFill>
              </a:rPr>
              <a:t>Every single Mongoose query is hardcoded with { companyId: req.tenantId }, mathematically guaranteeing zero data leaks across competing companies.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0" y="2448000"/>
            <a:ext cx="4932000" cy="46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908000" y="2556000"/>
            <a:ext cx="4716000" cy="468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6. Core Functional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4000" y="3060000"/>
            <a:ext cx="4644000" cy="3996000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1. Multi-Tenant Dashboard: </a:t>
            </a:r>
            <a:r>
              <a:rPr>
                <a:solidFill>
                  <a:srgbClr val="334155"/>
                </a:solidFill>
              </a:rPr>
              <a:t>Dynamic role-based navigation for Admins, Managers, and Drivers with 7-day volume analytics via Recharts.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2. Live Fleet Telemetry: </a:t>
            </a:r>
            <a:r>
              <a:rPr>
                <a:solidFill>
                  <a:srgbClr val="334155"/>
                </a:solidFill>
              </a:rPr>
              <a:t>Continuous GPS streaming with heartbeat ping/pong monitoring and 2-second auto-reconnection across mobile drops.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3. Public Load Board: </a:t>
            </a:r>
            <a:r>
              <a:rPr>
                <a:solidFill>
                  <a:srgbClr val="334155"/>
                </a:solidFill>
              </a:rPr>
              <a:t>Open freight marketplace enabling independent carriers to view available loads and place real-time bids.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4. SaaS Subscription Engine: </a:t>
            </a:r>
            <a:r>
              <a:rPr>
                <a:solidFill>
                  <a:srgbClr val="334155"/>
                </a:solidFill>
              </a:rPr>
              <a:t>Razorpay checkout integration with HMAC SHA-256 webhook signature verification.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5. Automated PDF Invoicing: </a:t>
            </a:r>
            <a:r>
              <a:rPr>
                <a:solidFill>
                  <a:srgbClr val="334155"/>
                </a:solidFill>
              </a:rPr>
              <a:t>Server-side dynamic calculation of regional CGST/SGST tax brackets and PDF attachment generation via PDFKit.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6. Driver App Simulation: </a:t>
            </a:r>
            <a:r>
              <a:rPr>
                <a:solidFill>
                  <a:srgbClr val="334155"/>
                </a:solidFill>
              </a:rPr>
              <a:t>Mobile web portal allowing drivers to accept dispatches and toggle GPS broadcast.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0" y="7272000"/>
            <a:ext cx="4932000" cy="748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08000" y="7380000"/>
            <a:ext cx="4716000" cy="468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7. Experimental Results &amp; Analysis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944000" y="7992000"/>
          <a:ext cx="4643999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Observed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REST API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&lt; 250ms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110–150ms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6534"/>
                          </a:solidFill>
                          <a:latin typeface="Cambria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Socket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&lt; 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45–80ms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6534"/>
                          </a:solidFill>
                          <a:latin typeface="Cambria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Webhook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&lt; 3.0s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1.5s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6534"/>
                          </a:solidFill>
                          <a:latin typeface="Cambria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Lighthouse UI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&gt; 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94/100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6534"/>
                          </a:solidFill>
                          <a:latin typeface="Cambria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Data Isolation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293B"/>
                          </a:solidFill>
                          <a:latin typeface="Cambria"/>
                        </a:rPr>
                        <a:t>0.0% (Zero)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6534"/>
                          </a:solidFill>
                          <a:latin typeface="Cambria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10944000" y="12240000"/>
            <a:ext cx="4644000" cy="2232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E3A8A"/>
                </a:solidFill>
              </a:rPr>
              <a:t>Comparative Efficiency Impact:
</a:t>
            </a:r>
            <a:r>
              <a:rPr sz="1300">
                <a:solidFill>
                  <a:srgbClr val="334155"/>
                </a:solidFill>
              </a:rPr>
              <a:t>• Manual invoice creation reduced from 15 mins to &lt; 2 seconds.
• Fleet setup costs reduced by 100% via smartphone GPS telemetry.
• Real-time map rendering sustained at 60 FPS on mobile.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20000" y="2448000"/>
            <a:ext cx="4932000" cy="309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6128000" y="2556000"/>
            <a:ext cx="4716000" cy="4680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8. Verified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64000" y="3060000"/>
            <a:ext cx="4644000" cy="2412000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Admin Overview Dashboard: </a:t>
            </a:r>
            <a:r>
              <a:rPr>
                <a:solidFill>
                  <a:srgbClr val="334155"/>
                </a:solidFill>
              </a:rPr>
              <a:t>Real-time fleet overview, 7-day revenue charts, active shipment counters.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Public Tracking Portal: </a:t>
            </a:r>
            <a:r>
              <a:rPr>
                <a:solidFill>
                  <a:srgbClr val="334155"/>
                </a:solidFill>
              </a:rPr>
              <a:t>Live Leaflet map plotting driver breadcrumbs without requiring user login.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Carrier Load Board: </a:t>
            </a:r>
            <a:r>
              <a:rPr>
                <a:solidFill>
                  <a:srgbClr val="334155"/>
                </a:solidFill>
              </a:rPr>
              <a:t>Verified bidding workflow with instant load assignment and status sync.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Automated PDF Invoices: </a:t>
            </a:r>
            <a:r>
              <a:rPr>
                <a:solidFill>
                  <a:srgbClr val="334155"/>
                </a:solidFill>
              </a:rPr>
              <a:t>Dynamic tax compliance dispatch directly to client email inbox.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020000" y="5688000"/>
            <a:ext cx="4932000" cy="34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6128000" y="5796000"/>
            <a:ext cx="4716000" cy="468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9. Conclusion &amp; Achievements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64000" y="6300000"/>
            <a:ext cx="4644000" cy="2772000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Academic &amp; Industrial Success: </a:t>
            </a:r>
            <a:r>
              <a:rPr>
                <a:solidFill>
                  <a:srgbClr val="334155"/>
                </a:solidFill>
              </a:rPr>
              <a:t>Successfully demonstrated that a modern MERN stack architecture can deliver enterprise-grade performance and uncompromising data isolation without expensive hardware.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Zero-Defect Milestone: </a:t>
            </a:r>
            <a:r>
              <a:rPr>
                <a:solidFill>
                  <a:srgbClr val="334155"/>
                </a:solidFill>
              </a:rPr>
              <a:t>Resolved critical production bugs including Clerk auth redirect loops, React infinite re-renders, and cloud SMTP port blocks.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Ready for Production: </a:t>
            </a:r>
            <a:r>
              <a:rPr>
                <a:solidFill>
                  <a:srgbClr val="334155"/>
                </a:solidFill>
              </a:rPr>
              <a:t>Fully hosted and validated live in production on Vercel and Render.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20000" y="9288000"/>
            <a:ext cx="4932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128000" y="9396000"/>
            <a:ext cx="4716000" cy="4680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72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10. Future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64000" y="9900000"/>
            <a:ext cx="4644000" cy="2267999"/>
          </a:xfrm>
          <a:prstGeom prst="rect">
            <a:avLst/>
          </a:prstGeom>
          <a:noFill/>
        </p:spPr>
        <p:txBody>
          <a:bodyPr wrap="square" lIns="72000" tIns="36000" rIns="72000">
            <a:spAutoFit/>
          </a:bodyPr>
          <a:lstStyle/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Native Mobile Applications: </a:t>
            </a:r>
            <a:r>
              <a:rPr>
                <a:solidFill>
                  <a:srgbClr val="334155"/>
                </a:solidFill>
              </a:rPr>
              <a:t>Transitioning driver portal to Flutter/React Native for background GPS tracking when phones are locked.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AI Predictive ETA: </a:t>
            </a:r>
            <a:r>
              <a:rPr>
                <a:solidFill>
                  <a:srgbClr val="334155"/>
                </a:solidFill>
              </a:rPr>
              <a:t>Machine learning models trained on traffic &amp; weather data for accurate arrival windows.</a:t>
            </a:r>
          </a:p>
          <a:p>
            <a:pPr>
              <a:lnSpc>
                <a:spcPct val="125000"/>
              </a:lnSpc>
              <a:defRPr sz="1400">
                <a:latin typeface="Cambria"/>
              </a:defRPr>
            </a:pPr>
            <a:r>
              <a:rPr b="1">
                <a:solidFill>
                  <a:srgbClr val="0F172A"/>
                </a:solidFill>
              </a:rPr>
              <a:t>Direct IoT OBD-II Integration: </a:t>
            </a:r>
            <a:r>
              <a:rPr>
                <a:solidFill>
                  <a:srgbClr val="334155"/>
                </a:solidFill>
              </a:rPr>
              <a:t>MQTT protocol support for enterprise fleets with dedicated hardware.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20000" y="12384000"/>
            <a:ext cx="4932000" cy="2376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4000" rtlCol="0" anchor="ctr"/>
          <a:lstStyle/>
          <a:p>
            <a:pPr algn="ctr"/>
            <a:r>
              <a:rPr sz="1500" b="1">
                <a:solidFill>
                  <a:srgbClr val="166534"/>
                </a:solidFill>
              </a:rPr>
              <a:t>SCAN FOR LIVE PRODUCTION DEMO
</a:t>
            </a:r>
            <a:r>
              <a:rPr sz="1200">
                <a:solidFill>
                  <a:srgbClr val="15803D"/>
                </a:solidFill>
              </a:rPr>
              <a:t>Experience the live platform on mobile or desktop:
</a:t>
            </a:r>
            <a:r>
              <a:rPr sz="1300" b="1">
                <a:solidFill>
                  <a:srgbClr val="0284C7"/>
                </a:solidFill>
              </a:rPr>
              <a:t>https://shipnova-logistics.vercel.app
</a:t>
            </a:r>
            <a:r>
              <a:rPr sz="1100">
                <a:solidFill>
                  <a:srgbClr val="475569"/>
                </a:solidFill>
              </a:rPr>
              <a:t>GitHub: github.com/shipnova8586/ShipNova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5D68FB6-0905-BE9B-58CA-4CE2073CA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240" y="3024001"/>
            <a:ext cx="1493649" cy="295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904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 SUTARIYA</cp:lastModifiedBy>
  <cp:revision>2</cp:revision>
  <dcterms:created xsi:type="dcterms:W3CDTF">2013-01-27T09:14:16Z</dcterms:created>
  <dcterms:modified xsi:type="dcterms:W3CDTF">2026-10-16T12:05:33Z</dcterms:modified>
  <cp:category/>
</cp:coreProperties>
</file>